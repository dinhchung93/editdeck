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Density</c:v>
                </c:pt>
              </c:strCache>
            </c:strRef>
          </c:tx>
          <c:spPr>
            <a:ln w="25400" cap="flat" cmpd="sng" algn="ctr">
              <a:solidFill>
                <a:srgbClr val="0B20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04C"/>
              </a:solidFill>
              <a:ln w="9525" cap="flat" cmpd="sng" algn="ctr">
                <a:solidFill>
                  <a:srgbClr val="0B204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Years: 2015</c:v>
                </c:pt>
                <c:pt idx="1">
                  <c:v>2020</c:v>
                </c:pt>
                <c:pt idx="2">
                  <c:v>2023</c:v>
                </c:pt>
                <c:pt idx="3">
                  <c:v>2025E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300</c:v>
                </c:pt>
                <c:pt idx="4">
                  <c:v>340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 cap="flat" cmpd="sng" algn="ctr">
              <a:solidFill>
                <a:srgbClr val="A0AE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0AEC0"/>
              </a:solidFill>
              <a:ln w="9525" cap="flat" cmpd="sng" algn="ctr">
                <a:solidFill>
                  <a:srgbClr val="A0AEC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Years: 2015</c:v>
                </c:pt>
                <c:pt idx="1">
                  <c:v>2020</c:v>
                </c:pt>
                <c:pt idx="2">
                  <c:v>2023</c:v>
                </c:pt>
                <c:pt idx="3">
                  <c:v>2025E</c:v>
                </c:pt>
                <c:pt idx="4">
                  <c:v>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320</c:v>
                </c:pt>
                <c:pt idx="1">
                  <c:v>250</c:v>
                </c:pt>
                <c:pt idx="2">
                  <c:v>190</c:v>
                </c:pt>
                <c:pt idx="3">
                  <c:v>150</c:v>
                </c:pt>
                <c:pt idx="4">
                  <c:v>130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a95b67-252c-4159-8f26-6b31c19e40d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NMC / High-Nickel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2027E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LFP</c:v>
                </c:pt>
              </c:strCache>
            </c:strRef>
          </c:tx>
          <c:spPr>
            <a:solidFill>
              <a:srgbClr val="0B204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2027E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</c:v>
                </c:pt>
                <c:pt idx="1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Next-Gen</c:v>
                </c:pt>
              </c:strCache>
            </c:strRef>
          </c:tx>
          <c:spPr>
            <a:solidFill>
              <a:srgbClr val="5EBA8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2027E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E2E8F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c627e9d-96ac-4833-8e19-638a39ffdcd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Demand Momentum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0C9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0507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81071"/>
            <a:ext cx="210312" cy="2553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783080"/>
            <a:ext cx="3657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Regulatory Pressure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2103120"/>
            <a:ext cx="36118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Tightening emissions regulations and ICE phase-out targets continue to push EV adoption across major economies.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81728" y="1188720"/>
            <a:ext cx="400507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87216"/>
            <a:ext cx="210312" cy="2430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82896" y="1783080"/>
            <a:ext cx="3657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Improving Economics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82896" y="2103120"/>
            <a:ext cx="36118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cost of ownership improves as battery prices fall and fuel and maintenance savings become clearer to consumers.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400507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00" y="3205886"/>
            <a:ext cx="242360" cy="1261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3611880"/>
            <a:ext cx="3657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Broader Model Availability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8368" y="3931920"/>
            <a:ext cx="36118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Expanding model availability across price segments and vehicle types lowers adoption barriers.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81728" y="3017520"/>
            <a:ext cx="400507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3215422"/>
            <a:ext cx="252374" cy="2442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82896" y="3611880"/>
            <a:ext cx="36576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Institutional Demand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82896" y="3931920"/>
            <a:ext cx="36118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B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Corporate fleet electrification and government procurement add stable, large-volume demand.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EV Market Outlook 2027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7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0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&amp; Infrastructure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2240280"/>
          </a:xfrm>
          <a:prstGeom prst="rect">
            <a:avLst/>
          </a:prstGeom>
          <a:solidFill>
            <a:srgbClr val="FFFFFF"/>
          </a:solidFill>
          <a:effectLst>
            <a:outerShdw blurRad="63500" dist="254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04C"/>
                </a:solidFill>
              </a:rPr>
              <a:t>Energy Density vs. Cost per kWh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280160"/>
          <a:ext cx="37490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 rot="16200000">
            <a:off x="45720" y="164592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Energy Density (Wh/kg)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 rot="16200000">
            <a:off x="3703320" y="1645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Cost per kWh (USD)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86200" y="1444752"/>
            <a:ext cx="91440" cy="91440"/>
          </a:xfrm>
          <a:prstGeom prst="ellipse">
            <a:avLst/>
          </a:prstGeom>
          <a:solidFill>
            <a:srgbClr val="5EBA84"/>
          </a:solidFill>
        </p:spPr>
      </p:sp>
      <p:sp>
        <p:nvSpPr>
          <p:cNvPr id="11" name="Text 8"/>
          <p:cNvSpPr/>
          <p:nvPr/>
        </p:nvSpPr>
        <p:spPr>
          <a:xfrm>
            <a:off x="2926080" y="1280160"/>
            <a:ext cx="1371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</a:rPr>
              <a:t>Higher range, lower cost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25603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Battery energy density continues to improve, extending driving range. Cost per kWh declines structurally, supporting mass-market affordability.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868680"/>
            <a:ext cx="4114800" cy="2240280"/>
          </a:xfrm>
          <a:prstGeom prst="rect">
            <a:avLst/>
          </a:prstGeom>
          <a:solidFill>
            <a:srgbClr val="FFFFFF"/>
          </a:solidFill>
          <a:effectLst>
            <a:outerShdw blurRad="806450000" dist="322580000" dir="-1" algn="bl" rotWithShape="0">
              <a:srgbClr val="000000">
                <a:alpha val="5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960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04C"/>
                </a:solidFill>
              </a:rPr>
              <a:t>Fast-Charging Capability Improves User Experience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00600" y="1508760"/>
            <a:ext cx="379476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5760720" y="1417320"/>
            <a:ext cx="1828800" cy="18288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Reduced Charging Time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00600" y="169164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E2E8F0"/>
          </a:solidFill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825085"/>
            <a:ext cx="210312" cy="1445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00600" y="210312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04C"/>
                </a:solidFill>
              </a:rPr>
              <a:t>Conventional Charging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00600" y="224028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60–90 min (80% charge)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BD5E1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89" y="1792224"/>
            <a:ext cx="146581" cy="210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210312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04C"/>
                </a:solidFill>
              </a:rPr>
              <a:t>High-Power DC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080760" y="224028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30–40 min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360920" y="169164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0B204C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134" y="1792224"/>
            <a:ext cx="130011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210312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04C"/>
                </a:solidFill>
              </a:rPr>
              <a:t>Ultra-Fast Charging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360920" y="2240280"/>
            <a:ext cx="12344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15–20 min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360920" y="2560320"/>
            <a:ext cx="1234440" cy="0"/>
          </a:xfrm>
          <a:prstGeom prst="line">
            <a:avLst/>
          </a:prstGeom>
          <a:noFill/>
          <a:ln w="12700">
            <a:solidFill>
              <a:srgbClr val="5EBA8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60920" y="2514600"/>
            <a:ext cx="0" cy="45720"/>
          </a:xfrm>
          <a:prstGeom prst="line">
            <a:avLst/>
          </a:prstGeom>
          <a:noFill/>
          <a:ln w="12700">
            <a:solidFill>
              <a:srgbClr val="5EBA8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5360" y="2514600"/>
            <a:ext cx="0" cy="45720"/>
          </a:xfrm>
          <a:prstGeom prst="line">
            <a:avLst/>
          </a:prstGeom>
          <a:noFill/>
          <a:ln w="12700">
            <a:solidFill>
              <a:srgbClr val="5EBA8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978140" y="2560320"/>
            <a:ext cx="0" cy="45720"/>
          </a:xfrm>
          <a:prstGeom prst="line">
            <a:avLst/>
          </a:prstGeom>
          <a:noFill/>
          <a:ln w="12700">
            <a:solidFill>
              <a:srgbClr val="5EBA8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360920" y="2651760"/>
            <a:ext cx="1234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Reduces range anxiety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for mainstream users.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65760" y="3246120"/>
            <a:ext cx="4114800" cy="1508760"/>
          </a:xfrm>
          <a:prstGeom prst="rect">
            <a:avLst/>
          </a:prstGeom>
          <a:solidFill>
            <a:srgbClr val="FFFFFF"/>
          </a:solidFill>
          <a:effectLst>
            <a:outerShdw blurRad="-2147483648" dist="-2147483648" dir="-1" algn="bl" rotWithShape="0">
              <a:srgbClr val="000000">
                <a:alpha val="-2147483648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502920" y="3337560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04C"/>
                </a:solidFill>
              </a:rPr>
              <a:t>Chemistry Mix Shift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02920" y="3611880"/>
            <a:ext cx="219456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1E293B"/>
                </a:solidFill>
              </a:rPr>
              <a:t>LFP gains share driven by safety and cost stability.</a:t>
            </a:r>
            <a:endParaRPr lang="en-US" sz="950" dirty="0"/>
          </a:p>
          <a:p>
            <a:r>
              <a:rPr lang="en-US" sz="950" dirty="0">
                <a:solidFill>
                  <a:srgbClr val="1E293B"/>
                </a:solidFill>
              </a:rPr>
              <a:t>Longer cycle life improves total cost of ownership.</a:t>
            </a:r>
            <a:endParaRPr lang="en-US" sz="950" dirty="0"/>
          </a:p>
          <a:p>
            <a:r>
              <a:rPr lang="en-US" sz="950" dirty="0">
                <a:solidFill>
                  <a:srgbClr val="1E293B"/>
                </a:solidFill>
              </a:rPr>
              <a:t>Next-generation chemistries target higher density and reduced critical mineral dependence.</a:t>
            </a:r>
            <a:endParaRPr lang="en-US" sz="950" dirty="0"/>
          </a:p>
        </p:txBody>
      </p:sp>
      <p:graphicFrame>
        <p:nvGraphicFramePr>
          <p:cNvPr id="37" name="Chart 1"/>
          <p:cNvGraphicFramePr/>
          <p:nvPr/>
        </p:nvGraphicFramePr>
        <p:xfrm>
          <a:off x="2743200" y="3474720"/>
          <a:ext cx="164592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8" name="Shape 31"/>
          <p:cNvSpPr/>
          <p:nvPr/>
        </p:nvSpPr>
        <p:spPr>
          <a:xfrm>
            <a:off x="2743200" y="4526280"/>
            <a:ext cx="73152" cy="73152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39" name="Text 32"/>
          <p:cNvSpPr/>
          <p:nvPr/>
        </p:nvSpPr>
        <p:spPr>
          <a:xfrm>
            <a:off x="2834640" y="4507992"/>
            <a:ext cx="7315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NMC / High-Nickel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3611880" y="4526280"/>
            <a:ext cx="73152" cy="73152"/>
          </a:xfrm>
          <a:prstGeom prst="rect">
            <a:avLst/>
          </a:prstGeom>
          <a:solidFill>
            <a:srgbClr val="0B204C"/>
          </a:solidFill>
        </p:spPr>
      </p:sp>
      <p:sp>
        <p:nvSpPr>
          <p:cNvPr id="41" name="Text 34"/>
          <p:cNvSpPr/>
          <p:nvPr/>
        </p:nvSpPr>
        <p:spPr>
          <a:xfrm>
            <a:off x="3703320" y="4507992"/>
            <a:ext cx="27432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LFP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3977640" y="4526280"/>
            <a:ext cx="73152" cy="73152"/>
          </a:xfrm>
          <a:prstGeom prst="rect">
            <a:avLst/>
          </a:prstGeom>
          <a:solidFill>
            <a:srgbClr val="5EBA84"/>
          </a:solidFill>
        </p:spPr>
      </p:sp>
      <p:sp>
        <p:nvSpPr>
          <p:cNvPr id="43" name="Text 36"/>
          <p:cNvSpPr/>
          <p:nvPr/>
        </p:nvSpPr>
        <p:spPr>
          <a:xfrm>
            <a:off x="4069080" y="4507992"/>
            <a:ext cx="457200" cy="1097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Next-Gen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663440" y="3246120"/>
            <a:ext cx="4114800" cy="1508760"/>
          </a:xfrm>
          <a:prstGeom prst="rect">
            <a:avLst/>
          </a:prstGeom>
          <a:solidFill>
            <a:srgbClr val="FFFFFF"/>
          </a:solidFill>
          <a:effectLst>
            <a:outerShdw blurRad="-2147483648" dist="-2147483648" dir="-1" algn="bl" rotWithShape="0">
              <a:srgbClr val="000000">
                <a:alpha val="-2147483648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4800600" y="3337560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04C"/>
                </a:solidFill>
              </a:rPr>
              <a:t>Network Expansion &amp; Regional Gaps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4800600" y="3611880"/>
            <a:ext cx="20116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950" dirty="0">
                <a:solidFill>
                  <a:srgbClr val="1E293B"/>
                </a:solidFill>
              </a:rPr>
              <a:t>Public charging networks expand across major urban corridors.</a:t>
            </a:r>
            <a:endParaRPr lang="en-US" sz="950" dirty="0"/>
          </a:p>
          <a:p>
            <a:r>
              <a:rPr lang="en-US" sz="950" dirty="0">
                <a:solidFill>
                  <a:srgbClr val="1E293B"/>
                </a:solidFill>
              </a:rPr>
              <a:t>Private and fleet charging grows alongside commercial EV adoption.</a:t>
            </a:r>
            <a:endParaRPr lang="en-US" sz="950" dirty="0"/>
          </a:p>
          <a:p>
            <a:r>
              <a:rPr lang="en-US" sz="950" dirty="0">
                <a:solidFill>
                  <a:srgbClr val="1E293B"/>
                </a:solidFill>
              </a:rPr>
              <a:t>Deployment pace varies significantly by region.</a:t>
            </a:r>
            <a:endParaRPr lang="en-US" sz="95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71" y="3534886"/>
            <a:ext cx="2015338" cy="976947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6903720" y="3977640"/>
            <a:ext cx="54864" cy="54864"/>
          </a:xfrm>
          <a:prstGeom prst="ellipse">
            <a:avLst/>
          </a:prstGeom>
          <a:solidFill>
            <a:srgbClr val="0B204C"/>
          </a:solidFill>
        </p:spPr>
      </p:sp>
      <p:sp>
        <p:nvSpPr>
          <p:cNvPr id="49" name="Text 41"/>
          <p:cNvSpPr/>
          <p:nvPr/>
        </p:nvSpPr>
        <p:spPr>
          <a:xfrm>
            <a:off x="6583680" y="40690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North America
</a:t>
            </a:r>
            <a:r>
              <a:rPr lang="en-US" sz="750" dirty="0">
                <a:solidFill>
                  <a:srgbClr val="1E293B"/>
                </a:solidFill>
              </a:rPr>
              <a:t>Rapid highway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corridor build-out</a:t>
            </a:r>
            <a:endParaRPr lang="en-US" sz="750" dirty="0"/>
          </a:p>
        </p:txBody>
      </p:sp>
      <p:sp>
        <p:nvSpPr>
          <p:cNvPr id="50" name="Shape 42"/>
          <p:cNvSpPr/>
          <p:nvPr/>
        </p:nvSpPr>
        <p:spPr>
          <a:xfrm>
            <a:off x="7543800" y="3931920"/>
            <a:ext cx="54864" cy="54864"/>
          </a:xfrm>
          <a:prstGeom prst="ellipse">
            <a:avLst/>
          </a:prstGeom>
          <a:solidFill>
            <a:srgbClr val="0B204C"/>
          </a:solidFill>
        </p:spPr>
      </p:sp>
      <p:sp>
        <p:nvSpPr>
          <p:cNvPr id="51" name="Text 43"/>
          <p:cNvSpPr/>
          <p:nvPr/>
        </p:nvSpPr>
        <p:spPr>
          <a:xfrm>
            <a:off x="7315200" y="40233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Europe
</a:t>
            </a:r>
            <a:r>
              <a:rPr lang="en-US" sz="750" dirty="0">
                <a:solidFill>
                  <a:srgbClr val="1E293B"/>
                </a:solidFill>
              </a:rPr>
              <a:t>Dense urban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charging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penetration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8092440" y="4023360"/>
            <a:ext cx="54864" cy="54864"/>
          </a:xfrm>
          <a:prstGeom prst="ellipse">
            <a:avLst/>
          </a:prstGeom>
          <a:solidFill>
            <a:srgbClr val="0B204C"/>
          </a:solidFill>
        </p:spPr>
      </p:sp>
      <p:sp>
        <p:nvSpPr>
          <p:cNvPr id="53" name="Text 45"/>
          <p:cNvSpPr/>
          <p:nvPr/>
        </p:nvSpPr>
        <p:spPr>
          <a:xfrm>
            <a:off x="7772400" y="411480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China
</a:t>
            </a:r>
            <a:r>
              <a:rPr lang="en-US" sz="750" dirty="0">
                <a:solidFill>
                  <a:srgbClr val="1E293B"/>
                </a:solidFill>
              </a:rPr>
              <a:t>Large-scale,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</a:rPr>
              <a:t>policy-driven rollout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Global EV Market Outlook 2027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8412480" y="489204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Competition &amp; Investment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REGIONAL COMPETITIVE POSITIONING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08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China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018" y="1655064"/>
            <a:ext cx="235804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Manufacturing scale leadership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efficiency across supply chain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65960" y="1554480"/>
            <a:ext cx="1508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164592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United States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54" y="1655064"/>
            <a:ext cx="114531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196596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Advanced technology platforms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policy and subsidy support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66160" y="1554480"/>
            <a:ext cx="1508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0" y="1645920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Europe</a:t>
            </a:r>
            <a:endParaRPr lang="en-US" sz="1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878" y="1655064"/>
            <a:ext cx="164885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57600" y="1965960"/>
            <a:ext cx="13258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Regulatory alignment and ESG focus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Premium EV positioning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5760" y="32004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AREAS OF INTENSIFYING COMPETITION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566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BEFF4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35661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Batteries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4069080"/>
            <a:ext cx="13716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Cell chemistry, cost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curve, energy density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737360" y="3794760"/>
            <a:ext cx="256032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011680" y="3566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BEFF4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011680" y="35661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011680" y="4069080"/>
            <a:ext cx="13716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OS integration, ADAS,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ecosystems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383280" y="3794760"/>
            <a:ext cx="256032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3657600" y="3566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BEFF4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0" y="35661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Vertically Integrated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Supply Chains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657600" y="4069080"/>
            <a:ext cx="13716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Upstream control, cost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resilience, delivery certainty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257800" y="1188720"/>
            <a:ext cx="0" cy="347472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40680" y="1188720"/>
            <a:ext cx="32004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577840" y="132588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CAPITAL FLOW PRIORITIES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577840" y="1600200"/>
            <a:ext cx="24688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 over critical materials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Ownership of scalable technology platforms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Integrated charging ecosystems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0" y="1621982"/>
            <a:ext cx="336499" cy="64223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40680" y="2651760"/>
            <a:ext cx="3200400" cy="2011680"/>
          </a:xfrm>
          <a:prstGeom prst="roundRect">
            <a:avLst>
              <a:gd name="adj" fmla="val 2273"/>
            </a:avLst>
          </a:prstGeom>
          <a:solidFill>
            <a:srgbClr val="EBEFF4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577840" y="283464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 CONCENTRATION BY 2027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623560" y="32461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Scale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6172200" y="3246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8A2B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355080" y="3154680"/>
            <a:ext cx="822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Discipline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7223760" y="3246120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8A2B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7406640" y="3154680"/>
            <a:ext cx="1005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Regulatory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Alignment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5577840" y="3794760"/>
            <a:ext cx="2926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Integrated players outperform fragmented competitors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669280" y="4251960"/>
            <a:ext cx="27432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tailEnd type="triangle"/>
          </a:ln>
        </p:spPr>
      </p:sp>
      <p:sp>
        <p:nvSpPr>
          <p:cNvPr id="43" name="Text 37"/>
          <p:cNvSpPr/>
          <p:nvPr/>
        </p:nvSpPr>
        <p:spPr>
          <a:xfrm>
            <a:off x="6035040" y="41148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4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Concentrated Shareholder Returns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365760" y="4846320"/>
            <a:ext cx="2743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8A2B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EV Market Outlook 2027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8412480" y="484632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2412</Words>
  <Application>WPS 演示</Application>
  <PresentationFormat>On-screen Show (16:9)</PresentationFormat>
  <Paragraphs>151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Arial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</dc:title>
  <dc:creator>xinda-agent</dc:creator>
  <dc:subject>Editable Deck</dc:subject>
  <cp:lastModifiedBy>赵晨卓</cp:lastModifiedBy>
  <cp:revision>2</cp:revision>
  <dcterms:created xsi:type="dcterms:W3CDTF">2026-04-05T13:18:00Z</dcterms:created>
  <dcterms:modified xsi:type="dcterms:W3CDTF">2026-04-07T12:18:59Z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2F1336E30CA048718868A247506D3616_13</vt:lpwstr>
  </property>
  <property fmtid="{D5CDD505-2E9C-101B-9397-08002B2CF9AE}" pid="3" name="KSOProductBuildVer">
    <vt:lpwstr>2052-12.1.0.24034</vt:lpwstr>
  </property>
</Properties>
</file>